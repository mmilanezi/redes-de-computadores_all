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A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7B547-823D-E33D-5703-DED1FC40A588}" v="7" dt="2022-12-21T20:05:31.954"/>
    <p1510:client id="{38EC1297-6C69-639A-0270-320105EF1CC1}" v="286" dt="2022-12-27T04:41:57.745"/>
    <p1510:client id="{96B91E6E-2B90-4B0A-910D-2E084C0CB4C9}" v="101" dt="2022-12-21T20:04:50.504"/>
    <p1510:client id="{BBEA8295-0D65-8769-C487-3DB81639703E}" v="17" dt="2022-12-21T20:07:34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RIPv2</c:v>
                </c:pt>
              </c:strCache>
            </c:strRef>
          </c:tx>
          <c:spPr>
            <a:ln w="34925">
              <a:solidFill>
                <a:srgbClr val="2A78D6"/>
              </a:solidFill>
            </a:ln>
          </c:spPr>
          <c:marker>
            <c:symbol val="none"/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27</c:v>
                </c:pt>
                <c:pt idx="15">
                  <c:v>29</c:v>
                </c:pt>
              </c:numCache>
            </c:numRef>
          </c:xVal>
          <c:yVal>
            <c:numRef>
              <c:f>Sheet1!$B$2:$B$17</c:f>
              <c:numCache>
                <c:formatCode>General</c:formatCode>
                <c:ptCount val="16"/>
                <c:pt idx="0">
                  <c:v>16</c:v>
                </c:pt>
                <c:pt idx="1">
                  <c:v>16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AE-468C-83D2-F342889D89EA}"/>
            </c:ext>
          </c:extLst>
        </c:ser>
        <c:ser>
          <c:idx val="1"/>
          <c:order val="1"/>
          <c:tx>
            <c:strRef>
              <c:f>Sheet1!$B$19</c:f>
              <c:strCache>
                <c:ptCount val="1"/>
                <c:pt idx="0">
                  <c:v>OSPFv2</c:v>
                </c:pt>
              </c:strCache>
            </c:strRef>
          </c:tx>
          <c:spPr>
            <a:ln w="34925">
              <a:solidFill>
                <a:srgbClr val="EB6834"/>
              </a:solidFill>
            </a:ln>
          </c:spPr>
          <c:marker>
            <c:symbol val="none"/>
          </c:marker>
          <c:xVal>
            <c:numRef>
              <c:f>Sheet1!$A$20:$A$51</c:f>
              <c:numCache>
                <c:formatCode>General</c:formatCode>
                <c:ptCount val="32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23</c:v>
                </c:pt>
                <c:pt idx="13">
                  <c:v>25</c:v>
                </c:pt>
                <c:pt idx="14">
                  <c:v>27</c:v>
                </c:pt>
                <c:pt idx="15">
                  <c:v>29</c:v>
                </c:pt>
                <c:pt idx="16">
                  <c:v>30</c:v>
                </c:pt>
                <c:pt idx="17">
                  <c:v>32</c:v>
                </c:pt>
                <c:pt idx="18">
                  <c:v>34</c:v>
                </c:pt>
                <c:pt idx="19">
                  <c:v>36</c:v>
                </c:pt>
                <c:pt idx="20">
                  <c:v>37</c:v>
                </c:pt>
                <c:pt idx="21">
                  <c:v>39</c:v>
                </c:pt>
                <c:pt idx="22">
                  <c:v>41</c:v>
                </c:pt>
                <c:pt idx="23">
                  <c:v>42</c:v>
                </c:pt>
                <c:pt idx="24">
                  <c:v>44</c:v>
                </c:pt>
                <c:pt idx="25">
                  <c:v>46</c:v>
                </c:pt>
                <c:pt idx="26">
                  <c:v>48</c:v>
                </c:pt>
                <c:pt idx="27">
                  <c:v>49</c:v>
                </c:pt>
                <c:pt idx="28">
                  <c:v>51</c:v>
                </c:pt>
                <c:pt idx="29">
                  <c:v>53</c:v>
                </c:pt>
                <c:pt idx="30">
                  <c:v>55</c:v>
                </c:pt>
                <c:pt idx="31">
                  <c:v>56</c:v>
                </c:pt>
              </c:numCache>
            </c:numRef>
          </c:xVal>
          <c:yVal>
            <c:numRef>
              <c:f>Sheet1!$B$20:$B$51</c:f>
              <c:numCache>
                <c:formatCode>General</c:formatCode>
                <c:ptCount val="3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9</c:v>
                </c:pt>
                <c:pt idx="26">
                  <c:v>9</c:v>
                </c:pt>
                <c:pt idx="27">
                  <c:v>9</c:v>
                </c:pt>
                <c:pt idx="28">
                  <c:v>17</c:v>
                </c:pt>
                <c:pt idx="29">
                  <c:v>17</c:v>
                </c:pt>
                <c:pt idx="30">
                  <c:v>17</c:v>
                </c:pt>
                <c:pt idx="31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FAE-468C-83D2-F342889D89EA}"/>
            </c:ext>
          </c:extLst>
        </c:ser>
        <c:ser>
          <c:idx val="2"/>
          <c:order val="2"/>
          <c:tx>
            <c:strRef>
              <c:f>Sheet1!$B$53</c:f>
              <c:strCache>
                <c:ptCount val="1"/>
                <c:pt idx="0">
                  <c:v>BGP-4</c:v>
                </c:pt>
              </c:strCache>
            </c:strRef>
          </c:tx>
          <c:spPr>
            <a:ln w="34925">
              <a:solidFill>
                <a:srgbClr val="1BAF7A"/>
              </a:solidFill>
            </a:ln>
          </c:spPr>
          <c:marker>
            <c:symbol val="none"/>
          </c:marker>
          <c:xVal>
            <c:numRef>
              <c:f>Sheet1!$A$54:$A$55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xVal>
          <c:yVal>
            <c:numRef>
              <c:f>Sheet1!$B$54:$B$55</c:f>
              <c:numCache>
                <c:formatCode>General</c:formatCode>
                <c:ptCount val="2"/>
                <c:pt idx="0">
                  <c:v>22</c:v>
                </c:pt>
                <c:pt idx="1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FAE-468C-83D2-F342889D89EA}"/>
            </c:ext>
          </c:extLst>
        </c:ser>
        <c:ser>
          <c:idx val="3"/>
          <c:order val="3"/>
          <c:tx>
            <c:strRef>
              <c:f>Sheet1!$B$57</c:f>
              <c:strCache>
                <c:ptCount val="1"/>
                <c:pt idx="0">
                  <c:v>convergência completa</c:v>
                </c:pt>
              </c:strCache>
            </c:strRef>
          </c:tx>
          <c:spPr>
            <a:ln w="15875">
              <a:solidFill>
                <a:srgbClr val="9AA3B8"/>
              </a:solidFill>
              <a:prstDash val="dash"/>
            </a:ln>
          </c:spPr>
          <c:marker>
            <c:symbol val="none"/>
          </c:marker>
          <c:xVal>
            <c:numRef>
              <c:f>Sheet1!$A$58:$A$59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Sheet1!$B$58:$B$59</c:f>
              <c:numCache>
                <c:formatCode>General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FAE-468C-83D2-F342889D8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6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pt-BR" sz="1200" b="0">
                    <a:solidFill>
                      <a:srgbClr val="4A5578"/>
                    </a:solidFill>
                  </a:rPr>
                  <a:t>segundos desde a subida dos daemons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A"/>
            </a:solidFill>
          </a:ln>
        </c:spPr>
        <c:txPr>
          <a:bodyPr/>
          <a:lstStyle/>
          <a:p>
            <a:pPr>
              <a:defRPr sz="1200">
                <a:solidFill>
                  <a:srgbClr val="6B7287"/>
                </a:solidFill>
              </a:defRPr>
            </a:pPr>
            <a:endParaRPr lang="pt-BR"/>
          </a:p>
        </c:txPr>
        <c:crossAx val="-2129643912"/>
        <c:crosses val="autoZero"/>
        <c:crossBetween val="midCat"/>
        <c:majorUnit val="10"/>
      </c:valAx>
      <c:valAx>
        <c:axId val="-2129643912"/>
        <c:scaling>
          <c:orientation val="minMax"/>
          <c:max val="28"/>
          <c:min val="0"/>
        </c:scaling>
        <c:delete val="0"/>
        <c:axPos val="l"/>
        <c:majorGridlines>
          <c:spPr>
            <a:ln>
              <a:solidFill>
                <a:srgbClr val="DDE1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1200" b="0">
                    <a:solidFill>
                      <a:srgbClr val="4A5578"/>
                    </a:solidFill>
                  </a:rPr>
                  <a:t>rotas de acesso conhecidas (máx. 25)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A"/>
            </a:solidFill>
          </a:ln>
        </c:spPr>
        <c:txPr>
          <a:bodyPr/>
          <a:lstStyle/>
          <a:p>
            <a:pPr>
              <a:defRPr sz="1200">
                <a:solidFill>
                  <a:srgbClr val="6B7287"/>
                </a:solidFill>
              </a:defRPr>
            </a:pPr>
            <a:endParaRPr lang="pt-BR"/>
          </a:p>
        </c:txPr>
        <c:crossAx val="-2128940872"/>
        <c:crosses val="autoZero"/>
        <c:crossBetween val="midCat"/>
        <c:majorUnit val="5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4A5578"/>
          </a:solidFill>
        </a:defRPr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41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Abertura, uns 15 segundos. Um laboratório com cinco roteadores FRRouting em três Sistemas Autônomos. Configurei RIP, OSPF e BGP sobre exatamente a mesma topologia, um de cada vez, e medi como cada um se comporta. Azul é RIP, laranja é OSPF, verde é BGP em todos os gráficos.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40 segundos. A plataforma é o FRRouting, sucessor mantido do Quagga, que o enunciado cita. Cada roteador é um container. O enunciado pede que os protocolos não sejam simultâneos: isso é garantido na origem, o container só liga um daemon de roteamento por vez. E a coleta de métricas é automatizada, os mesmos seis experimentos para cada protocolo.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40 segundos. Três peças. Um gerador em Python é a fonte única da topologia: dele saem o docker-compose e as quinze configurações, então endereçamento e vizinhanças nunca divergem. O entrypoint de cada roteador renomeia as interfaces pelo IP, porque o Docker não garante a ordem eth0, eth1; remove a rota default; e liga só o daemon do protocolo escolhido. E um script que sobe tudo com um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50 segundos. Os cinco roteadores formam um anel: entre quaisquer dois pontos há dois caminhos. R1 e R2 são o AS 65001, R3 e R4 o 65002, R5 sozinho o 65003. A decisão de projeto importante está em laranja: o enlace R2–R3 é o caminho mais curto em saltos entre o AS 65001 e o 65002, mas tem custo OSPF 200 contra 10 dos demais. Fiz isso para que RIP e OSPF escolham caminhos diferentes. As redes são internas, sem NAT e sem rota default: todo o encaminhamento depende só do protocolo.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Resultado central, uns 60 segundos. Mesmo destino, a LAN do R3, saindo do R1. O RIP vai pelo R2: conta saltos e não sabe que aquele enlace é caro. O OSPF dá a volta pelo R5 e R4: pelo R2 o custo seria 220, pela volta é 40. O BGP também vai pelo R2, por outro motivo: tem dois caminhos, AS_PATH 65002 direto e 65003 65002 pelo AS do R5, e escolhe o mais curto. Se o AS 65002 tivesse vinte roteadores internos, o BGP continuaria vendo um AS só. Coincidência de resultado, não de critério.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45 segundos. Tempo desde a subida dos daemons até todos conhecerem todas as LANs. O BGP é o mais rápido, 4 segundos. O RIP depende do timer de 30 segundos; numa subida deu 29, em outra 68, então esse número varia muito. O surpreendente é o OSPF: a linha laranja fica parada por mais de 40 segundos. Os enlaces do Docker são redes broadcast, e nelas o OSPF espera o wait timer, 40 segundos, antes de eleger o DR. Enlaces ponto a ponto eliminariam essa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50 segundos. Capturei 90 segundos de tráfego de controle em cada roteador, só na saída, para não contar cada pacote duas vezes. Os números batem com a teoria: o OSPF manda um hello a cada 10 segundos em 10 interfaces, exatamente 1 pacote por segundo; o RIP, um update a cada 30, dá 0,333. Isso valida a medição. Sobre escalabilidade: o OSPF manda mais pacotes, mas pequenos; o RIP manda poucos, mas cada um leva a tabela inteira, então o custo dele cresce com a rede. Aqui ele já gasta 84 por cento do que o OSPF gasta. O BGP em regime só troca keepalives.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40 segundos. Separei o que o roteador usa para encaminhar, a FIB, do que o protocolo guarda por dentro. RIP e OSPF instalam os mesmos 15 prefixos; o BGP 12, porque cada roteador só anuncia a LAN e o loopback, não os enlaces entre ASes. Por dentro: o OSPF guarda o mapa da rede, 10 LSAs iguais em todos os roteadores. O BGP guarda caminhos alternativos: o R5, com duas sessões eBGP, conhece dois caminhos para cada prefixo. Isso aparece nos próximos slides. Na primeira versão eu contei a RIB, e o OSPF parecia ter 19 rotas; eram 4 entradas nunca instaladas.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Resultado mais interessante, uns 60 segundos. Derrubei o enlace R1–R5 só do lado do R1. A interface do R5 continua ativa: ele não sabe que o enlace morreu e continua mandando as respostas por ali. Como o R5 descobre? O OSPF não precisa: o R1 inunda um LSA novo sem esse enlace, e o SPF só usa um enlace se os dois lados o anunciarem. Zero pacotes perdidos. O RIP só descobre quando a rota expira, 180 segundos sem updates. O BGP, quando o hold timer vence, também 180 segundos. Por isso os dois ficam quase três minutos 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50 segundos. Repeti tudo com o enlace cortado nas duas pontas, como um cabo rompido. O RIP cai de 175 para 12 segundos: os dois lados mandam updates disparados, mas o caminho alternativo só chega no próximo update periódico. O BGP cai de 175 segundos para 125 milissegundos: as sessões caem na hora e o R5 já tinha o caminho de reserva. O OSPF é igual nos dois casos. A forma de detectar a falha pesou mais que o protocolo. Em rede real, o BGP usa BFD para isso; seria o próximo experimento.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40 segundos. RIP escolhe por saltos, OSPF por custo, BGP por AS_PATH e política. Em falha, o OSPF foi o melhor em todos os cenários. Em controle, o BGP é o mais barato. Em configuração, o RIP é o mais simples, 9 linhas por roteador, contra 12 do OSPF e 15 a 16 do BGP, que exige conhecer cada vizinho e seu AS. RIP e OSPF competem pelo roteamento interno, e o OSPF venceu. O BGP não compete: numa rede real ele roda junto com o OSPF.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 40 segundos. Quatro coisas deram errado, e todas melhoraram o trabalho. RIP e OSPF não formavam adjacência no Docker: o netfilter da bridge descartava o multicast, e o BGP funcionava porque é TCP. A primeira medição deu o mesmo valor para os três protocolos, o que era impossível: eu media a primeira resposta depois do comando, e não a maior lacuna. Depois, RIP e BGP pareciam presos em 58 segundos, que era a janela do teste; investigar isso revelou a falha unilateral. E o OSPF parecia ter a maior tabela porque eu contava a RIB. Usei IA no trabalho, e cada hipótese dela foi verificada no laboratório; isso está documentado no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Encerrar em 10 segundos e, se houver tempo, mostrar ao vivo: lab.sh up ospf, lab.sh vizinhos e o traceroute de h1 até 10.3.0.10 indo pelo R5. Trocar o link do repositório antes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874519"/>
            <a:ext cx="6355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Trabalho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66944" y="2240280"/>
            <a:ext cx="63550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253A7E"/>
                </a:solidFill>
              </a:rPr>
              <a:t>RIP, OSPF e BGP sobre a mesma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66944" y="3611880"/>
            <a:ext cx="6355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>
                <a:solidFill>
                  <a:srgbClr val="253A7E"/>
                </a:solidFill>
              </a:rPr>
              <a:t>Redes de Computadores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6944" y="4297680"/>
            <a:ext cx="6355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53A7E"/>
                </a:solidFill>
              </a:rPr>
              <a:t>Matheus Milanezi</a:t>
            </a:r>
          </a:p>
          <a:p>
            <a:pPr algn="l"/>
            <a:r>
              <a:rPr sz="1800" b="0">
                <a:solidFill>
                  <a:srgbClr val="253A7E"/>
                </a:solidFill>
              </a:rPr>
              <a:t>Prof. Cristiano Bonato Both · 28/09/2026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Um laboratório de roteamento reproduzível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O que foi construído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1828800"/>
            <a:ext cx="4846320" cy="18288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3A7E"/>
                </a:solidFill>
              </a:rPr>
              <a:t>FRRouting 8.4.1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O fork mantido do Quagga citado no enunciado, rodando em containers Docker.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828800"/>
            <a:ext cx="4846320" cy="18288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3A7E"/>
                </a:solidFill>
              </a:rPr>
              <a:t>5 roteadores, 3 Sistemas Autônomos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Um anel com uma rede de acesso e um host em cada roteador.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9072" y="3904487"/>
            <a:ext cx="4846320" cy="18288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3A7E"/>
                </a:solidFill>
              </a:rPr>
              <a:t>3 protocolos, um por vez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O container sobe um único daemon de roteamento. Não há como dois coexistirem.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904487"/>
            <a:ext cx="4846320" cy="18288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53A7E"/>
                </a:solidFill>
              </a:rPr>
              <a:t>6 experimentos automatizados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Convergência, tabela, seleção de rota, tráfego de controle, reconvergência e latência.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Como o laboratório sobe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Instalação e configuração da plataforma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1920240"/>
            <a:ext cx="2880360" cy="210312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3A7E"/>
                </a:solidFill>
                <a:latin typeface="Consolas"/>
              </a:rPr>
              <a:t>gerar_topologia.py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Uma única tabela de topologia gera o docker-compose e as 15 configurações FRR.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27447" y="2788920"/>
            <a:ext cx="384048" cy="365760"/>
          </a:xfrm>
          <a:prstGeom prst="rightArrow">
            <a:avLst/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39512" y="1920240"/>
            <a:ext cx="2880360" cy="210312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3A7E"/>
                </a:solidFill>
                <a:latin typeface="Consolas"/>
              </a:rPr>
              <a:t>entrypoint-router.sh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Renomeia as interfaces pelo IP, remove a rota default e liga um único daemon.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47888" y="2788920"/>
            <a:ext cx="384048" cy="365760"/>
          </a:xfrm>
          <a:prstGeom prst="rightArrow">
            <a:avLst/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59951" y="1920240"/>
            <a:ext cx="2880360" cy="210312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3A7E"/>
                </a:solidFill>
                <a:latin typeface="Consolas"/>
              </a:rPr>
              <a:t>lab.sh up ospf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Sobe 10 containers e prepara o host Docker para o multicast de RIP e OSPF.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4434840"/>
            <a:ext cx="99395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A5578"/>
                </a:solidFill>
              </a:rPr>
              <a:t>O Docker nomeia as interfaces em ordem não garantida. Renomeá-las pelo IP deixa as configurações legíveis e estáveis: </a:t>
            </a:r>
            <a:r>
              <a:rPr sz="1800" b="1">
                <a:solidFill>
                  <a:srgbClr val="4A5578"/>
                </a:solidFill>
              </a:rPr>
              <a:t>lan, to-r2, to-r5.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Um anel com uma armadilha proposital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Topologia física e 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10512"/>
            <a:ext cx="3063240" cy="2075688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6000" y="4892040"/>
            <a:ext cx="4251960" cy="1005840"/>
          </a:xfrm>
          <a:prstGeom prst="roundRect">
            <a:avLst>
              <a:gd name="adj" fmla="val 15000"/>
            </a:avLst>
          </a:prstGeom>
          <a:solidFill>
            <a:srgbClr val="EEF1F8"/>
          </a:solidFill>
          <a:ln w="12700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2194560" cy="877824"/>
          </a:xfrm>
          <a:prstGeom prst="roundRect">
            <a:avLst>
              <a:gd name="adj" fmla="val 15000"/>
            </a:avLst>
          </a:prstGeom>
          <a:solidFill>
            <a:srgbClr val="EEF1F8"/>
          </a:solidFill>
          <a:ln w="12700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023360" y="2286000"/>
            <a:ext cx="1609344" cy="1170432"/>
          </a:xfrm>
          <a:prstGeom prst="line">
            <a:avLst/>
          </a:prstGeom>
          <a:ln w="38100">
            <a:solidFill>
              <a:srgbClr val="9A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020056" y="3456432"/>
            <a:ext cx="612648" cy="1892808"/>
          </a:xfrm>
          <a:prstGeom prst="line">
            <a:avLst/>
          </a:prstGeom>
          <a:ln w="6985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26664" y="5349240"/>
            <a:ext cx="1993392" cy="0"/>
          </a:xfrm>
          <a:prstGeom prst="line">
            <a:avLst/>
          </a:prstGeom>
          <a:ln w="38100">
            <a:solidFill>
              <a:srgbClr val="9A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414016" y="3456432"/>
            <a:ext cx="612648" cy="1892808"/>
          </a:xfrm>
          <a:prstGeom prst="line">
            <a:avLst/>
          </a:prstGeom>
          <a:ln w="38100">
            <a:solidFill>
              <a:srgbClr val="9A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14016" y="2286000"/>
            <a:ext cx="1609344" cy="1170432"/>
          </a:xfrm>
          <a:prstGeom prst="line">
            <a:avLst/>
          </a:prstGeom>
          <a:ln w="38100">
            <a:solidFill>
              <a:srgbClr val="9A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1860" y="2002536"/>
            <a:ext cx="1143000" cy="566928"/>
          </a:xfrm>
          <a:prstGeom prst="roundRect">
            <a:avLst>
              <a:gd name="adj" fmla="val 18000"/>
            </a:avLst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R1</a:t>
            </a:r>
          </a:p>
          <a:p>
            <a:pPr algn="ctr"/>
            <a:r>
              <a:rPr sz="1100" b="0">
                <a:solidFill>
                  <a:srgbClr val="C9D1E8"/>
                </a:solidFill>
              </a:rPr>
              <a:t>10.1.0.0/24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1204" y="3172968"/>
            <a:ext cx="1143000" cy="566928"/>
          </a:xfrm>
          <a:prstGeom prst="roundRect">
            <a:avLst>
              <a:gd name="adj" fmla="val 18000"/>
            </a:avLst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R2</a:t>
            </a:r>
          </a:p>
          <a:p>
            <a:pPr algn="ctr"/>
            <a:r>
              <a:rPr sz="1100" b="0">
                <a:solidFill>
                  <a:srgbClr val="C9D1E8"/>
                </a:solidFill>
              </a:rPr>
              <a:t>10.2.0.0/24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8556" y="5065776"/>
            <a:ext cx="1143000" cy="566928"/>
          </a:xfrm>
          <a:prstGeom prst="roundRect">
            <a:avLst>
              <a:gd name="adj" fmla="val 18000"/>
            </a:avLst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R3</a:t>
            </a:r>
          </a:p>
          <a:p>
            <a:pPr algn="ctr"/>
            <a:r>
              <a:rPr sz="1100" b="0">
                <a:solidFill>
                  <a:srgbClr val="C9D1E8"/>
                </a:solidFill>
              </a:rPr>
              <a:t>10.3.0.0/24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5164" y="5065776"/>
            <a:ext cx="1143000" cy="566928"/>
          </a:xfrm>
          <a:prstGeom prst="roundRect">
            <a:avLst>
              <a:gd name="adj" fmla="val 18000"/>
            </a:avLst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R4</a:t>
            </a:r>
          </a:p>
          <a:p>
            <a:pPr algn="ctr"/>
            <a:r>
              <a:rPr sz="1100" b="0">
                <a:solidFill>
                  <a:srgbClr val="C9D1E8"/>
                </a:solidFill>
              </a:rPr>
              <a:t>10.4.0.0/24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2516" y="3172968"/>
            <a:ext cx="1143000" cy="566928"/>
          </a:xfrm>
          <a:prstGeom prst="roundRect">
            <a:avLst>
              <a:gd name="adj" fmla="val 18000"/>
            </a:avLst>
          </a:prstGeom>
          <a:solidFill>
            <a:srgbClr val="253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R5</a:t>
            </a:r>
          </a:p>
          <a:p>
            <a:pPr algn="ctr"/>
            <a:r>
              <a:rPr sz="1100" b="0">
                <a:solidFill>
                  <a:srgbClr val="C9D1E8"/>
                </a:solidFill>
              </a:rPr>
              <a:t>10.5.0.0/24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88366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A5578"/>
                </a:solidFill>
              </a:rPr>
              <a:t>AS 65001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257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A5578"/>
                </a:solidFill>
              </a:rPr>
              <a:t>AS 65002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089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A5578"/>
                </a:solidFill>
              </a:rPr>
              <a:t>AS</a:t>
            </a:r>
          </a:p>
          <a:p>
            <a:pPr algn="l"/>
            <a:r>
              <a:rPr sz="1300" b="1">
                <a:solidFill>
                  <a:srgbClr val="4A5578"/>
                </a:solidFill>
              </a:rPr>
              <a:t>65003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114800"/>
            <a:ext cx="1234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3A7E"/>
                </a:solidFill>
              </a:rPr>
              <a:t>custo OSPF 200</a:t>
            </a:r>
          </a:p>
          <a:p>
            <a:pPr algn="l"/>
            <a:r>
              <a:rPr sz="1200" b="0">
                <a:solidFill>
                  <a:srgbClr val="4A5578"/>
                </a:solidFill>
              </a:rPr>
              <a:t>demais: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874519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53A7E"/>
                </a:solidFill>
              </a:rPr>
              <a:t>Dois caminhos entre quaisquer pontos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A queda de qualquer enlace mantém a rede conexa, o que permite medir reconvergência.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20040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53A7E"/>
                </a:solidFill>
              </a:rPr>
              <a:t>Fronteiras eBGP e sessões iBGP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eBGP em R2–R3, R4–R5 e R5–R1. iBGP em R1–R2 e R3–R4.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52628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53A7E"/>
                </a:solidFill>
              </a:rPr>
              <a:t>A armadilha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R2–R3 é o caminho mais curto em saltos entre os dois ASes, mas o mais caro para o OSPF. RIP e OSPF vão discordar.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Enlaces /29, LANs /24, redes internas sem NAT e sem rota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Mesmo destino, caminhos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Seleção de rota de R1 até a LAN de R3 (10.3.0.0/24)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9072" y="1828800"/>
          <a:ext cx="9939528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Protocolo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Critério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RIPv2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R1 → R2 → R3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3 saltos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menos saltos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OSPFv2</a:t>
                      </a:r>
                    </a:p>
                  </a:txBody>
                  <a:tcPr marL="109728" marR="109728" marT="36576" marB="36576" anchor="ctr">
                    <a:solidFill>
                      <a:srgbClr val="FB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R1 → R5 → R4 → R3</a:t>
                      </a:r>
                    </a:p>
                  </a:txBody>
                  <a:tcPr marL="109728" marR="109728" marT="36576" marB="36576" anchor="ctr">
                    <a:solidFill>
                      <a:srgbClr val="FB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custo 40</a:t>
                      </a:r>
                    </a:p>
                  </a:txBody>
                  <a:tcPr marL="109728" marR="109728" marT="36576" marB="36576" anchor="ctr">
                    <a:solidFill>
                      <a:srgbClr val="FB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menor custo</a:t>
                      </a:r>
                    </a:p>
                  </a:txBody>
                  <a:tcPr marL="109728" marR="109728" marT="36576" marB="36576" anchor="ctr">
                    <a:solidFill>
                      <a:srgbClr val="FB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BGP-4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R1 → R2 → R3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AS_PATH 65002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AS_PATH mais curto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719072" y="4023360"/>
            <a:ext cx="4846320" cy="169164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3A7E"/>
                </a:solidFill>
              </a:rPr>
              <a:t>O OSPF dá a volta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Pelo R2 o custo seria 10 + 200 + 10 = 220. Pela volta, 40. Um roteador a mais para evitar o enlace caro.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4023360"/>
            <a:ext cx="4846320" cy="169164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3A7E"/>
                </a:solidFill>
              </a:rPr>
              <a:t>O BGP coincide com o RIP só no resultado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Ele compara AS_PATH 65002 contra 65003 65002 e não enxerga os roteadores dentro de cada 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Fonte: show ip route, show ip bgp e traceroute h1 → h3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O OSPF é o mais lento para começar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Convergência a frio: até todos os roteadores conhecerem as 5 LANs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627631" y="1737360"/>
          <a:ext cx="6492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874519"/>
            <a:ext cx="3154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53A7E"/>
                </a:solidFill>
              </a:rPr>
              <a:t>BGP · 4 s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A sessão TCP sobe e os UPDATEs saem em seguida.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200400"/>
            <a:ext cx="3154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53A7E"/>
                </a:solidFill>
              </a:rPr>
              <a:t>RIP · 29 s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Depende do próximo update de 30 s. Em outra subida, 68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526280"/>
            <a:ext cx="3154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53A7E"/>
                </a:solidFill>
              </a:rPr>
              <a:t>OSPF · 56 s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40 s em Waiting antes de eleger o DR, porque os enlaces são redes broadcast.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Fonte: show ip route json nos 5 roteadores, a cada 1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O medido bate com os timers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Tráfego de controle em regime permanente: 90 s, soma dos 5 roteadores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9072" y="1828800"/>
          <a:ext cx="9939528" cy="1755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5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Protocolo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pacotes/s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bit/s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bytes/pacote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Previsto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3A7E"/>
                          </a:solidFill>
                        </a:rPr>
                        <a:t>RIPv2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0,333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592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222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10 interfaces × 1 update/30 s = 0,333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3A7E"/>
                          </a:solidFill>
                        </a:rPr>
                        <a:t>OSPFv2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1,000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704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88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10 interfaces × 1 hello/10 s = 1,000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53A7E"/>
                          </a:solidFill>
                        </a:rPr>
                        <a:t>BGP-4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0,211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139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82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53A7E"/>
                          </a:solidFill>
                        </a:rPr>
                        <a:t>10 pontas × 1 keepalive/60 s + ACKs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719072" y="3977639"/>
            <a:ext cx="3154680" cy="178308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3A7E"/>
                </a:solidFill>
              </a:rPr>
              <a:t>OSPF: muitos pacotes pequenos</a:t>
            </a:r>
          </a:p>
          <a:p>
            <a:pPr algn="l"/>
            <a:r>
              <a:rPr sz="1500" b="0">
                <a:solidFill>
                  <a:srgbClr val="4A5578"/>
                </a:solidFill>
              </a:rPr>
              <a:t>Hellos só confirmam o vizinho. O tamanho não depende da rede.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11496" y="3977639"/>
            <a:ext cx="3154680" cy="178308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3A7E"/>
                </a:solidFill>
              </a:rPr>
              <a:t>RIP: a tabela inteira a cada 30 s</a:t>
            </a:r>
          </a:p>
          <a:p>
            <a:pPr algn="l"/>
            <a:r>
              <a:rPr sz="1500" b="0">
                <a:solidFill>
                  <a:srgbClr val="4A5578"/>
                </a:solidFill>
              </a:rPr>
              <a:t>Já gasta 84% dos bits do OSPF. Com mais rotas, passa à frente.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3977639"/>
            <a:ext cx="3154680" cy="178308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3A7E"/>
                </a:solidFill>
              </a:rPr>
              <a:t>BGP: o mais barato</a:t>
            </a:r>
          </a:p>
          <a:p>
            <a:pPr algn="l"/>
            <a:r>
              <a:rPr sz="1500" b="0">
                <a:solidFill>
                  <a:srgbClr val="4A5578"/>
                </a:solidFill>
              </a:rPr>
              <a:t>Sem mudanças, só keepalives. Updates são incrementais.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Fonte: tcpdump -Q out nos 5 roteadores; cada pacote contado uma vez, no emissor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O OSPF guarda o mapa, o BGP guarda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Tamanho da tabela de roteamento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9072" y="1828800"/>
          <a:ext cx="9939528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Protocolo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FIB (instaladas)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RIB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</a:rPr>
                        <a:t>Base do protocolo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RIPv2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15 rotas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OSPFv2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15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19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10 LSAs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BGP-4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12 a 18 caminhos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719072" y="3977639"/>
            <a:ext cx="4846320" cy="178308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3A7E"/>
                </a:solidFill>
              </a:rPr>
              <a:t>LSDB: a topologia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5 router-LSAs e 5 network-LSAs, idênticos nos 5 roteadores. Cada um calcula as rotas a partir do mesmo mapa.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3977639"/>
            <a:ext cx="4846320" cy="178308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53A7E"/>
                </a:solidFill>
              </a:rPr>
              <a:t>BGP: caminhos de reserva</a:t>
            </a:r>
          </a:p>
          <a:p>
            <a:pPr algn="l"/>
            <a:r>
              <a:rPr sz="1600" b="0">
                <a:solidFill>
                  <a:srgbClr val="4A5578"/>
                </a:solidFill>
              </a:rPr>
              <a:t>O R5, com duas sessões eBGP, guarda 18 caminhos, 2 por prefixo remoto. É isso que o deixa trocar de rota na hora.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A RIB do OSPF tem 4 entradas para redes conectadas que nunca são instaladas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Quando só um lado percebe a falha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Ping h1 → h5 a 50 pacotes/s; o enlace R1–R5 cai só do lado do R1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04286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38526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41108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75348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50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77929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12169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100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14751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48991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150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1572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5812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200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88394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22634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250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25216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59456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300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362037" y="1965960"/>
            <a:ext cx="0" cy="2606040"/>
          </a:xfrm>
          <a:prstGeom prst="line">
            <a:avLst/>
          </a:prstGeom>
          <a:ln w="9525">
            <a:solidFill>
              <a:srgbClr val="DD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96277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6B7287"/>
                </a:solidFill>
              </a:rPr>
              <a:t>350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937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A5578"/>
                </a:solidFill>
              </a:rPr>
              <a:t>segundos em relação à queda do enlace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20574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53A7E"/>
                </a:solidFill>
              </a:rPr>
              <a:t>RIPv2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1765" y="2057400"/>
            <a:ext cx="232798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49580" y="2057400"/>
            <a:ext cx="4051768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9543123" y="1984248"/>
            <a:ext cx="0" cy="603504"/>
          </a:xfrm>
          <a:prstGeom prst="line">
            <a:avLst/>
          </a:prstGeom>
          <a:ln w="31750">
            <a:solidFill>
              <a:srgbClr val="1A2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597987" y="17830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78"/>
                </a:solidFill>
              </a:rPr>
              <a:t>enlace volta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" y="29718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53A7E"/>
                </a:solidFill>
              </a:rPr>
              <a:t>OSPFv2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5079" y="2971800"/>
            <a:ext cx="2467334" cy="457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4722999" y="2898648"/>
            <a:ext cx="0" cy="603504"/>
          </a:xfrm>
          <a:prstGeom prst="line">
            <a:avLst/>
          </a:prstGeom>
          <a:ln w="31750">
            <a:solidFill>
              <a:srgbClr val="1A2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7863" y="26974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78"/>
                </a:solidFill>
              </a:rPr>
              <a:t>enlace volta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38862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53A7E"/>
                </a:solidFill>
              </a:rPr>
              <a:t>BGP-4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7544" y="3886200"/>
            <a:ext cx="231115" cy="4572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45197" y="3886200"/>
            <a:ext cx="4171521" cy="4572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9543123" y="3813048"/>
            <a:ext cx="0" cy="603504"/>
          </a:xfrm>
          <a:prstGeom prst="line">
            <a:avLst/>
          </a:prstGeom>
          <a:ln w="31750">
            <a:solidFill>
              <a:srgbClr val="1A2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97987" y="36118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78"/>
                </a:solidFill>
              </a:rPr>
              <a:t>enlace volta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04286" y="1828800"/>
            <a:ext cx="0" cy="2697480"/>
          </a:xfrm>
          <a:prstGeom prst="line">
            <a:avLst/>
          </a:prstGeom>
          <a:ln w="19050">
            <a:solidFill>
              <a:srgbClr val="1A2A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477438" y="16733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A5578"/>
                </a:solidFill>
              </a:rPr>
              <a:t>enlace cai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9072" y="5440680"/>
            <a:ext cx="9939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3A7E"/>
                </a:solidFill>
              </a:rPr>
              <a:t>OSPF: nenhum pacote perdido. </a:t>
            </a:r>
            <a:r>
              <a:rPr sz="1700" b="0">
                <a:solidFill>
                  <a:srgbClr val="253A7E"/>
                </a:solidFill>
              </a:rPr>
              <a:t>RIP e BGP: cerca de 175 s parados, até vencer o timer de 180 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Rodada 1 de 3 em cada protocolo; o teste do OSPF usou uma janela de 58 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 detecção pesou mais que o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Reconvergência: média de 3 rodadas por cenário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9072" y="1828800"/>
          <a:ext cx="9939528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5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Protocolo</a:t>
                      </a:r>
                    </a:p>
                  </a:txBody>
                  <a:tcPr marL="109728" marR="109728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Um lado só</a:t>
                      </a:r>
                    </a:p>
                  </a:txBody>
                  <a:tcPr marL="109728" marR="109728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Cabo cortado</a:t>
                      </a:r>
                    </a:p>
                  </a:txBody>
                  <a:tcPr marL="109728" marR="109728" marT="36576" marB="36576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Como o R5 descobre</a:t>
                      </a:r>
                    </a:p>
                  </a:txBody>
                  <a:tcPr marL="109728" marR="109728" marT="36576" marB="36576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RIPv2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175,5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12,3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timeout da rota, 180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OSPFv2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9 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10 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não precisa: LSA do R1 + SPF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53A7E"/>
                          </a:solidFill>
                        </a:rPr>
                        <a:t>BGP-4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175,0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125 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53A7E"/>
                          </a:solidFill>
                        </a:rPr>
                        <a:t>hold timer, 180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19072" y="40690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14× no RIP, 1400× no BGP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O mesmo protocolo, só mudando quem enxerga a queda. Com o cabo cortado, o BGP usa o caminho de reserva na hora.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40690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Só o OSPF é imune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Ele confirma cada enlace pelos dois lados. Nas redes reais, o BGP resolve isso com BFD.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D1E8"/>
                </a:solidFill>
              </a:rPr>
              <a:t>Falha unilateral: janela de 270 s; bilateral: 60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Cada protocolo no seu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Comparação e adequação a cenários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9072" y="1783080"/>
          <a:ext cx="9939528" cy="2709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RIPv2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OSPFv2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BGP-4</a:t>
                      </a:r>
                    </a:p>
                  </a:txBody>
                  <a:tcPr marL="109728" marR="109728" marT="36576" marB="36576" anchor="ctr">
                    <a:solidFill>
                      <a:srgbClr val="253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53A7E"/>
                          </a:solidFill>
                        </a:rPr>
                        <a:t>Escolhe por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menos saltos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menor custo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AS_PATH e política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53A7E"/>
                          </a:solidFill>
                        </a:rPr>
                        <a:t>Falha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lento: timers de 30 e 180 s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o mais rápido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rápido se detecta; 180 s se não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53A7E"/>
                          </a:solidFill>
                        </a:rPr>
                        <a:t>Controle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tabela inteira a cada 30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hellos a cada 10 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só keepalives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53A7E"/>
                          </a:solidFill>
                        </a:rPr>
                        <a:t>Configuração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9 linhas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12 linhas, custos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15 a 16 linhas, vizinhos</a:t>
                      </a:r>
                    </a:p>
                  </a:txBody>
                  <a:tcPr marL="109728" marR="109728" marT="36576" marB="36576" anchor="ctr"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53A7E"/>
                          </a:solidFill>
                        </a:rPr>
                        <a:t>Serve para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redes pequenas e estáveis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dentro de uma organização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53A7E"/>
                          </a:solidFill>
                        </a:rPr>
                        <a:t>entre organizações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19072" y="4572000"/>
            <a:ext cx="993952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A5578"/>
                </a:solidFill>
              </a:rPr>
              <a:t>RIP e OSPF disputam o mesmo lugar, e o OSPF venceu onde importa. </a:t>
            </a:r>
            <a:r>
              <a:rPr sz="1800" b="1">
                <a:solidFill>
                  <a:srgbClr val="4A5578"/>
                </a:solidFill>
              </a:rPr>
              <a:t>O BGP não compete com eles: </a:t>
            </a:r>
            <a:r>
              <a:rPr sz="1800" b="0">
                <a:solidFill>
                  <a:srgbClr val="4A5578"/>
                </a:solidFill>
              </a:rPr>
              <a:t>numa rede real ele roda junto com um IGP, OSPF dentro do AS e BGP nas fronteiras.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Configuração: linhas específicas do protocolo em cada roteador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9072" y="566928"/>
            <a:ext cx="9939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3A7E"/>
                </a:solidFill>
              </a:rPr>
              <a:t>O que deu errado, e o que ensinou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072" y="1161288"/>
            <a:ext cx="9939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53A7E"/>
                </a:solidFill>
              </a:rPr>
              <a:t>Método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1828800"/>
            <a:ext cx="4846320" cy="173736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53A7E"/>
                </a:solidFill>
              </a:rPr>
              <a:t>RIP e OSPF mudos no Docker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O netfilter da bridge descartava o multicast. O BGP funcionava, porque usa TCP.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828800"/>
            <a:ext cx="4846320" cy="173736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53A7E"/>
                </a:solidFill>
              </a:rPr>
              <a:t>0,056 s nos três protocolos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Valor idêntico denunciou erro de medida. Passei a buscar a maior lacuna entre respostas.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9072" y="3813048"/>
            <a:ext cx="4846320" cy="173736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53A7E"/>
                </a:solidFill>
              </a:rPr>
              <a:t>RIP e BGP presos em 58 s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Era o tamanho da janela do teste. Investigar isso revelou a falha unilateral.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813048"/>
            <a:ext cx="4846320" cy="173736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09728" rtlCol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253A7E"/>
                </a:solidFill>
              </a:rPr>
              <a:t>OSPF com a maior tabela</a:t>
            </a:r>
          </a:p>
          <a:p>
            <a:pPr algn="l"/>
            <a:r>
              <a:rPr sz="1700" b="0">
                <a:solidFill>
                  <a:srgbClr val="4A5578"/>
                </a:solidFill>
              </a:rPr>
              <a:t>Eu contava a RIB. Contando só as instaladas, RIP e OSPF empatam em 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5989320"/>
            <a:ext cx="9939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7"/>
                </a:solidFill>
              </a:rPr>
              <a:t>Dados da coleta com a janela curta preservados no repositório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71032" y="251460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600" b="1">
                <a:solidFill>
                  <a:srgbClr val="253A7E"/>
                </a:solidFill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1032" y="3703320"/>
            <a:ext cx="53949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A5578"/>
                </a:solidFill>
              </a:rPr>
              <a:t>Código</a:t>
            </a:r>
            <a:r>
              <a:rPr sz="1600" b="0" dirty="0">
                <a:solidFill>
                  <a:srgbClr val="4A5578"/>
                </a:solidFill>
              </a:rPr>
              <a:t>, </a:t>
            </a:r>
            <a:r>
              <a:rPr sz="1600" b="0" dirty="0" err="1">
                <a:solidFill>
                  <a:srgbClr val="4A5578"/>
                </a:solidFill>
              </a:rPr>
              <a:t>configurações</a:t>
            </a:r>
            <a:r>
              <a:rPr sz="1600" b="0" dirty="0">
                <a:solidFill>
                  <a:srgbClr val="4A5578"/>
                </a:solidFill>
              </a:rPr>
              <a:t> e dados: </a:t>
            </a:r>
            <a:r>
              <a:rPr lang="pt-BR" sz="1600" b="0" dirty="0">
                <a:solidFill>
                  <a:srgbClr val="4A5578"/>
                </a:solidFill>
              </a:rPr>
              <a:t>https://github.com/mmilanezi/Redes-de-computadores_Trab-1</a:t>
            </a:r>
            <a:endParaRPr sz="1600" b="0" dirty="0">
              <a:solidFill>
                <a:srgbClr val="4A557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2605</Words>
  <Application>Microsoft Office PowerPoint</Application>
  <PresentationFormat>Widescreen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Sabrina Silva</cp:lastModifiedBy>
  <cp:revision>134</cp:revision>
  <dcterms:created xsi:type="dcterms:W3CDTF">2022-12-21T19:57:02Z</dcterms:created>
  <dcterms:modified xsi:type="dcterms:W3CDTF">2026-09-28T21:14:10Z</dcterms:modified>
</cp:coreProperties>
</file>